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249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E8EAED"/>
                </a:solidFill>
                <a:latin typeface="Arial"/>
              </a:rPr>
              <a:t>The world's strictest style guide is enforced by hand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83080"/>
            <a:ext cx="512064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700" b="0" i="0">
                <a:solidFill>
                  <a:srgbClr val="E8EAED"/>
                </a:solidFill>
                <a:latin typeface="Arial"/>
              </a:rPr>
              <a:t>UN documents follow the DGACM Editorial Manual — hundreds of binding rules covering structure, terminology, spelling and layout.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700" b="0" i="0">
                <a:solidFill>
                  <a:srgbClr val="E8EAED"/>
                </a:solidFill>
                <a:latin typeface="Arial"/>
              </a:rPr>
              <a:t>Every Secretariat report is checked manually today. Compliance review is slow, inconsistent, and competes with substantive work.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8EAED"/>
                </a:solidFill>
                <a:latin typeface="Arial"/>
              </a:rPr>
              <a:t>Thousands of documents per year, across every UN agency, fund, programme and mission — plus the NGOs and ministries that file to the same standard.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66360"/>
            <a:ext cx="51206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 i="0">
                <a:solidFill>
                  <a:srgbClr val="ED1C24"/>
                </a:solidFill>
                <a:latin typeface="Arial"/>
              </a:rPr>
              <a:t>8,500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9AA0AA"/>
                </a:solidFill>
                <a:latin typeface="Arial"/>
              </a:rPr>
              <a:t>word ceiling for a Secretariat report — one of many hard limits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783080"/>
            <a:ext cx="512064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6560" y="2103120"/>
            <a:ext cx="438912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500" b="1" i="0">
                <a:solidFill>
                  <a:srgbClr val="1A2733"/>
                </a:solidFill>
                <a:latin typeface="Cambria"/>
              </a:rPr>
              <a:t>From the rule book: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 i="0">
                <a:solidFill>
                  <a:srgbClr val="1A2733"/>
                </a:solidFill>
                <a:latin typeface="Cambria"/>
              </a:rPr>
              <a:t>“Initial capitals only for the first word” — headings, bold, sentence case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 i="0">
                <a:solidFill>
                  <a:srgbClr val="1A2733"/>
                </a:solidFill>
                <a:latin typeface="Cambria"/>
              </a:rPr>
              <a:t>“Viet Nam”, never “Vietnam” — UNTERM geographical names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 i="0">
                <a:solidFill>
                  <a:srgbClr val="1A2733"/>
                </a:solidFill>
                <a:latin typeface="Cambria"/>
              </a:rPr>
              <a:t>“United Nations” — never abbreviated in running text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 i="0">
                <a:solidFill>
                  <a:srgbClr val="1A2733"/>
                </a:solidFill>
                <a:latin typeface="Cambria"/>
              </a:rPr>
              <a:t>“programme”, “judgement” — Concise Oxford, first-listed form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 i="0">
                <a:solidFill>
                  <a:srgbClr val="1A2733"/>
                </a:solidFill>
                <a:latin typeface="Cambria"/>
              </a:rPr>
              <a:t>(a), (b) … with (i), (ii) indented — sub-listing hierarchy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1A2733"/>
                </a:solidFill>
                <a:latin typeface="Cambria"/>
              </a:rPr>
              <a:t>Numbers under 10 in words; footnotes only, never endnotes; paragraph numbers cited, never pages…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E8EAED"/>
                </a:solidFill>
                <a:latin typeface="Arial"/>
              </a:rPr>
              <a:t>An agent that reads the rule book — then applies 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3736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A2E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19" y="2057400"/>
            <a:ext cx="566928" cy="566928"/>
          </a:xfrm>
          <a:prstGeom prst="ellipse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19" y="28346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E8EAED"/>
                </a:solidFill>
                <a:latin typeface="Arial"/>
              </a:rP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" y="3383280"/>
            <a:ext cx="20116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9AA0AA"/>
                </a:solidFill>
                <a:latin typeface="Arial"/>
              </a:rPr>
              <a:t>15+ rule checks against the citable DGACM standard. Every finding: rule ID, location, exact fix.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91839" y="3291840"/>
            <a:ext cx="320040" cy="320040"/>
          </a:xfrm>
          <a:prstGeom prst="rightArrow">
            <a:avLst/>
          </a:prstGeom>
          <a:solidFill>
            <a:srgbClr val="2A2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566160" y="173736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A2E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886200" y="2057400"/>
            <a:ext cx="566928" cy="566928"/>
          </a:xfrm>
          <a:prstGeom prst="ellipse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28346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E8EAED"/>
                </a:solidFill>
                <a:latin typeface="Arial"/>
              </a:rPr>
              <a:t>Autofix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3383280"/>
            <a:ext cx="20116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9AA0AA"/>
                </a:solidFill>
                <a:latin typeface="Arial"/>
              </a:rPr>
              <a:t>Mechanical violations fixed deterministically — spelling, terminology, numbering — no model, no risk.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217920" y="3291840"/>
            <a:ext cx="320040" cy="320040"/>
          </a:xfrm>
          <a:prstGeom prst="rightArrow">
            <a:avLst/>
          </a:prstGeom>
          <a:solidFill>
            <a:srgbClr val="2A2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92240" y="173736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A2E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812280" y="2057400"/>
            <a:ext cx="566928" cy="566928"/>
          </a:xfrm>
          <a:prstGeom prst="ellipse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8346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E8EAED"/>
                </a:solidFill>
                <a:latin typeface="Arial"/>
              </a:rPr>
              <a:t>AI rewrite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383280"/>
            <a:ext cx="20116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9AA0AA"/>
                </a:solidFill>
                <a:latin typeface="Arial"/>
              </a:rPr>
              <a:t>Judgement calls go to MiniMax M3 on AMD Instinct via Fireworks. Constrained: fix only what was flagged.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144000" y="3291840"/>
            <a:ext cx="320040" cy="320040"/>
          </a:xfrm>
          <a:prstGeom prst="rightArrow">
            <a:avLst/>
          </a:prstGeom>
          <a:solidFill>
            <a:srgbClr val="2A2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418320" y="173736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A2E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738360" y="2057400"/>
            <a:ext cx="566928" cy="566928"/>
          </a:xfrm>
          <a:prstGeom prst="ellipse">
            <a:avLst/>
          </a:prstGeom>
          <a:solidFill>
            <a:srgbClr val="39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28346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E8EAED"/>
                </a:solidFill>
                <a:latin typeface="Arial"/>
              </a:rPr>
              <a:t>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3383280"/>
            <a:ext cx="20116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9AA0AA"/>
                </a:solidFill>
                <a:latin typeface="Arial"/>
              </a:rPr>
              <a:t>Rules engine re-checks the result. Output: compliant .docx + a separate change-log document.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8EAED"/>
                </a:solidFill>
                <a:latin typeface="Arial"/>
              </a:rPr>
              <a:t>Degrades gracefully: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9AA0AA"/>
                </a:solidFill>
                <a:latin typeface="Arial"/>
              </a:rPr>
              <a:t>with no model configured, the deterministic pipeline still delivers a formatted, verified document.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E8EAED"/>
                </a:solidFill>
                <a:latin typeface="Arial"/>
              </a:rPr>
              <a:t>Live: dirty draft in, compliant report out</a:t>
            </a:r>
          </a:p>
        </p:txBody>
      </p:sp>
      <p:pic>
        <p:nvPicPr>
          <p:cNvPr id="3" name="Picture 2" descr="demo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1234440"/>
            <a:ext cx="969264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263640"/>
            <a:ext cx="10972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600" b="1" i="0" dirty="0">
                <a:solidFill>
                  <a:srgbClr val="009EDB"/>
                </a:solidFill>
                <a:latin typeface="Arial"/>
              </a:rPr>
              <a:t>un-docformat-agent.onrender.com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E8EAED"/>
                </a:solidFill>
                <a:latin typeface="Arial"/>
              </a:rPr>
              <a:t>Complete, tested, containerized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5212080" cy="214884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A2E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9EDB"/>
                </a:solidFill>
                <a:latin typeface="Arial"/>
              </a:rPr>
              <a:t>Rules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31720"/>
            <a:ext cx="4480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9AA0AA"/>
                </a:solidFill>
                <a:latin typeface="Arial"/>
              </a:rPr>
              <a:t>15+ checks mapped 1:1 to DGACM sources in docs/UN_RULES.md — no invented rules, everything verifiable.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212080" cy="214884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A2E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0" y="173736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9EDB"/>
                </a:solidFill>
                <a:latin typeface="Arial"/>
              </a:rPr>
              <a:t>Deterministic autofix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331720"/>
            <a:ext cx="4480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9AA0AA"/>
                </a:solidFill>
                <a:latin typeface="Arial"/>
              </a:rPr>
              <a:t>24 mechanical fixes on the demo document alone, each logged. Works with zero model access.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886200"/>
            <a:ext cx="5212080" cy="214884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A2E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16052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ED1C24"/>
                </a:solidFill>
                <a:latin typeface="Arial"/>
              </a:rPr>
              <a:t>Constrained AI 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754880"/>
            <a:ext cx="4480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9AA0AA"/>
                </a:solidFill>
                <a:latin typeface="Arial"/>
              </a:rPr>
              <a:t>The model receives the draft + structured findings, may fix only those, and is re-checked afterwards.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886200"/>
            <a:ext cx="5212080" cy="214884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A2E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416052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9EDB"/>
                </a:solidFill>
                <a:latin typeface="Arial"/>
              </a:rPr>
              <a:t>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754880"/>
            <a:ext cx="4480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9AA0AA"/>
                </a:solidFill>
                <a:latin typeface="Arial"/>
              </a:rPr>
              <a:t>57-test suite · Docker · MIT license · stdlib OOXML writer for the .docx output · Flask UI · CLI +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E8EAED"/>
                </a:solidFill>
                <a:latin typeface="Arial"/>
              </a:rPr>
              <a:t>Built on </a:t>
            </a:r>
            <a:r>
              <a:rPr sz="3200" b="1">
                <a:solidFill>
                  <a:srgbClr val="ED1C24"/>
                </a:solidFill>
                <a:latin typeface="Arial"/>
              </a:rPr>
              <a:t>AMD</a:t>
            </a:r>
            <a:r>
              <a:rPr sz="3200" b="1">
                <a:solidFill>
                  <a:srgbClr val="E8EAED"/>
                </a:solidFill>
                <a:latin typeface="Arial"/>
              </a:rPr>
              <a:t> — not wrapped around an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5852160" cy="4663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sz="1700" b="0" i="0">
                <a:solidFill>
                  <a:srgbClr val="E8EAED"/>
                </a:solidFill>
                <a:latin typeface="Arial"/>
              </a:rPr>
              <a:t>All inference runs on AMD Instinct GPUs through the Fireworks AI serverless API — the exact stack this hackathon is built around.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sz="1700" b="0" i="0">
                <a:solidFill>
                  <a:srgbClr val="E8EAED"/>
                </a:solidFill>
                <a:latin typeface="Arial"/>
              </a:rPr>
              <a:t>Model: MiniMax M3 (one of the families featured for ACT II). The client is OpenAI-compatible and model-agnostic — one environment variable swaps in any Fireworks-hosted model, including Gemma on a dedicated deployment.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8EAED"/>
                </a:solidFill>
                <a:latin typeface="Arial"/>
              </a:rPr>
              <a:t>Mock-first architecture meant the entire pipeline was built and 57-test-verified before credits existed — then went live with zero code changes.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0" y="1554480"/>
            <a:ext cx="4572000" cy="141732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A2E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23760" y="1783080"/>
            <a:ext cx="4023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39D98A"/>
                </a:solidFill>
                <a:latin typeface="Arial"/>
              </a:rPr>
              <a:t>&lt; $0.01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9AA0AA"/>
                </a:solidFill>
                <a:latin typeface="Arial"/>
              </a:rPr>
              <a:t>inference cost per document processed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3200400"/>
            <a:ext cx="4572000" cy="141732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A2E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0" y="3429000"/>
            <a:ext cx="4023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009EDB"/>
                </a:solidFill>
                <a:latin typeface="Arial"/>
              </a:rPr>
              <a:t>1 env var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9AA0AA"/>
                </a:solidFill>
                <a:latin typeface="Arial"/>
              </a:rPr>
              <a:t>to swap models — Gemma-ready via dedicated deployment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4846320"/>
            <a:ext cx="4572000" cy="141732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A2E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0" y="5074920"/>
            <a:ext cx="4023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ED1C24"/>
                </a:solidFill>
                <a:latin typeface="Arial"/>
              </a:rPr>
              <a:t>0 → live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9AA0AA"/>
                </a:solidFill>
                <a:latin typeface="Arial"/>
              </a:rPr>
              <a:t>same code path from mocked tests to AMD production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E8EAED"/>
                </a:solidFill>
                <a:latin typeface="Arial"/>
              </a:rPr>
              <a:t>Every organization with a house style is a customer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A2E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9EDB"/>
                </a:solidFill>
                <a:latin typeface="Arial"/>
              </a:rPr>
              <a:t>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29260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 i="0">
                <a:solidFill>
                  <a:srgbClr val="9AA0AA"/>
                </a:solidFill>
                <a:latin typeface="Arial"/>
              </a:rPr>
              <a:t>UN Secretariat reports — the strictest, best-documented rule set. Agencies, funds, programmes, missions and the NGOs filing to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55448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A2E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00600" y="18288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ED1C24"/>
                </a:solidFill>
                <a:latin typeface="Arial"/>
              </a:rPr>
              <a:t>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2468880"/>
            <a:ext cx="29260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 i="0">
                <a:solidFill>
                  <a:srgbClr val="9AA0AA"/>
                </a:solidFill>
                <a:latin typeface="Arial"/>
              </a:rPr>
              <a:t>More UN document types — resolutions, briefing notes, correspondence — by adding rules, not code. The engine is document-type-driven.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55448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A2E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0" y="18288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9D98A"/>
                </a:solidFill>
                <a:latin typeface="Arial"/>
              </a:rPr>
              <a:t>Beyond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468880"/>
            <a:ext cx="29260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 i="0">
                <a:solidFill>
                  <a:srgbClr val="9AA0AA"/>
                </a:solidFill>
                <a:latin typeface="Arial"/>
              </a:rPr>
              <a:t>Any editorial standard: EU institutions, ISO, legal houses, corporate brand-language compliance. Same agent, different rule book.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8EAED"/>
                </a:solidFill>
                <a:latin typeface="Arial"/>
              </a:rPr>
              <a:t>Business model: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9AA0AA"/>
                </a:solidFill>
                <a:latin typeface="Arial"/>
              </a:rPr>
              <a:t>per-seat SaaS for compliance teams; API pricing for document-pipeline integration. The rules engine is the moat — it encodes institutional knowledge that generic chatbots hallucinate.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E8EAED"/>
                </a:solidFill>
                <a:latin typeface="Arial"/>
              </a:rPr>
              <a:t>Small. Finished. Real.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651760"/>
            <a:ext cx="9418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9AA0AA"/>
                </a:solidFill>
                <a:latin typeface="Arial"/>
              </a:rPr>
              <a:t>A working product against a real, citable standard — live demo, open source, containerized, tested end to end.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94560" y="3931920"/>
            <a:ext cx="7772400" cy="137160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2A2E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0" y="3931920"/>
            <a:ext cx="164592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600" b="1" i="0">
                <a:solidFill>
                  <a:srgbClr val="9AA0AA"/>
                </a:solidFill>
                <a:latin typeface="Arial"/>
              </a:rPr>
              <a:t>Live demo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9AA0AA"/>
                </a:solidFill>
                <a:latin typeface="Arial"/>
              </a:rPr>
              <a:t>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931920"/>
            <a:ext cx="512064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600" b="1" i="0">
                <a:solidFill>
                  <a:srgbClr val="009EDB"/>
                </a:solidFill>
                <a:latin typeface="Arial"/>
              </a:rPr>
              <a:t>un-docformat-agent.onrender.com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E8EAED"/>
                </a:solidFill>
                <a:latin typeface="Arial"/>
              </a:rPr>
              <a:t>github.com/oscarowais/un-docformat-agent  (MIT)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9AA0AA"/>
                </a:solidFill>
                <a:latin typeface="Arial"/>
              </a:rPr>
              <a:t>The Innovators  ·  AMD Developer Hackathon: ACT II  ·  Track 3 (Unicorn)  ·  Powered by AMD Instinct + Fireworks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717</Words>
  <Application>Microsoft Office PowerPoint</Application>
  <PresentationFormat>Widescreen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Owais Bin Dastagir</cp:lastModifiedBy>
  <cp:revision>3</cp:revision>
  <dcterms:created xsi:type="dcterms:W3CDTF">2013-01-27T09:14:16Z</dcterms:created>
  <dcterms:modified xsi:type="dcterms:W3CDTF">2026-07-10T02:28:19Z</dcterms:modified>
  <cp:category/>
</cp:coreProperties>
</file>